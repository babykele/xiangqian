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5e43affe364b5a" /><Relationship Type="http://schemas.openxmlformats.org/officeDocument/2006/relationships/extended-properties" Target="/docProps/app.xml" Id="Ra6a94165aef64dc2" /><Relationship Type="http://schemas.openxmlformats.org/officeDocument/2006/relationships/officeDocument" Target="/ppt/presentation.xml" Id="R83187d6391634e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f8facc27f643a6"/>
  </p:sldMasterIdLst>
  <p:notesMasterIdLst>
    <p:notesMasterId xmlns:r="http://schemas.openxmlformats.org/officeDocument/2006/relationships" r:id="R0b9a3dfc88fc4568"/>
  </p:notesMasterIdLst>
  <p:sldIdLst>
    <p:sldId xmlns:r="http://schemas.openxmlformats.org/officeDocument/2006/relationships" id="256" r:id="R9c21783adb154f1e"/>
    <p:sldId xmlns:r="http://schemas.openxmlformats.org/officeDocument/2006/relationships" id="257" r:id="R3b684bf77f6844b6"/>
    <p:sldId xmlns:r="http://schemas.openxmlformats.org/officeDocument/2006/relationships" id="258" r:id="R548b171cc0354618"/>
    <p:sldId xmlns:r="http://schemas.openxmlformats.org/officeDocument/2006/relationships" id="259" r:id="R890dc143689b456f"/>
    <p:sldId xmlns:r="http://schemas.openxmlformats.org/officeDocument/2006/relationships" id="260" r:id="R8ecbd2f0015645b4"/>
    <p:sldId xmlns:r="http://schemas.openxmlformats.org/officeDocument/2006/relationships" id="261" r:id="R4fdeb54ea8aa4a5a"/>
    <p:sldId xmlns:r="http://schemas.openxmlformats.org/officeDocument/2006/relationships" id="262" r:id="R0a6b05881e774618"/>
    <p:sldId xmlns:r="http://schemas.openxmlformats.org/officeDocument/2006/relationships" id="263" r:id="R15ca196e9d5c4b48"/>
    <p:sldId xmlns:r="http://schemas.openxmlformats.org/officeDocument/2006/relationships" id="264" r:id="R7622bb74d0a242c4"/>
    <p:sldId xmlns:r="http://schemas.openxmlformats.org/officeDocument/2006/relationships" id="265" r:id="R0df9229ef5164b6f"/>
    <p:sldId xmlns:r="http://schemas.openxmlformats.org/officeDocument/2006/relationships" id="266" r:id="Rdcb8d21ab006485c"/>
    <p:sldId xmlns:r="http://schemas.openxmlformats.org/officeDocument/2006/relationships" id="267" r:id="R3f625db4518c4055"/>
    <p:sldId xmlns:r="http://schemas.openxmlformats.org/officeDocument/2006/relationships" id="268" r:id="R6153ebd535994597"/>
    <p:sldId xmlns:r="http://schemas.openxmlformats.org/officeDocument/2006/relationships" id="269" r:id="Rd275101a23fb4dd9"/>
    <p:sldId xmlns:r="http://schemas.openxmlformats.org/officeDocument/2006/relationships" id="270" r:id="R9f984eec8fa141b0"/>
    <p:sldId xmlns:r="http://schemas.openxmlformats.org/officeDocument/2006/relationships" id="271" r:id="R5a5d74036a394d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d0247fa664f28" /><Relationship Type="http://schemas.openxmlformats.org/officeDocument/2006/relationships/slideMaster" Target="/ppt/slideMasters/slideMaster1.xml" Id="R2cf8facc27f643a6" /><Relationship Type="http://schemas.openxmlformats.org/officeDocument/2006/relationships/notesMaster" Target="/ppt/notesMasters/notesMaster1.xml" Id="R0b9a3dfc88fc4568" /><Relationship Type="http://schemas.openxmlformats.org/officeDocument/2006/relationships/presProps" Target="/ppt/presProps.xml" Id="R49681e60ab9b4b28" /><Relationship Type="http://schemas.openxmlformats.org/officeDocument/2006/relationships/tableStyles" Target="/ppt/tableStyles.xml" Id="R1ea7e2aa311b4f25" /><Relationship Type="http://schemas.openxmlformats.org/officeDocument/2006/relationships/slide" Target="/ppt/slides/slide1.xml" Id="R9c21783adb154f1e" /><Relationship Type="http://schemas.openxmlformats.org/officeDocument/2006/relationships/slide" Target="/ppt/slides/slide2.xml" Id="R3b684bf77f6844b6" /><Relationship Type="http://schemas.openxmlformats.org/officeDocument/2006/relationships/slide" Target="/ppt/slides/slide3.xml" Id="R548b171cc0354618" /><Relationship Type="http://schemas.openxmlformats.org/officeDocument/2006/relationships/slide" Target="/ppt/slides/slide4.xml" Id="R890dc143689b456f" /><Relationship Type="http://schemas.openxmlformats.org/officeDocument/2006/relationships/slide" Target="/ppt/slides/slide5.xml" Id="R8ecbd2f0015645b4" /><Relationship Type="http://schemas.openxmlformats.org/officeDocument/2006/relationships/slide" Target="/ppt/slides/slide6.xml" Id="R4fdeb54ea8aa4a5a" /><Relationship Type="http://schemas.openxmlformats.org/officeDocument/2006/relationships/slide" Target="/ppt/slides/slide7.xml" Id="R0a6b05881e774618" /><Relationship Type="http://schemas.openxmlformats.org/officeDocument/2006/relationships/slide" Target="/ppt/slides/slide8.xml" Id="R15ca196e9d5c4b48" /><Relationship Type="http://schemas.openxmlformats.org/officeDocument/2006/relationships/slide" Target="/ppt/slides/slide9.xml" Id="R7622bb74d0a242c4" /><Relationship Type="http://schemas.openxmlformats.org/officeDocument/2006/relationships/slide" Target="/ppt/slides/slide10.xml" Id="R0df9229ef5164b6f" /><Relationship Type="http://schemas.openxmlformats.org/officeDocument/2006/relationships/slide" Target="/ppt/slides/slide11.xml" Id="Rdcb8d21ab006485c" /><Relationship Type="http://schemas.openxmlformats.org/officeDocument/2006/relationships/slide" Target="/ppt/slides/slide12.xml" Id="R3f625db4518c4055" /><Relationship Type="http://schemas.openxmlformats.org/officeDocument/2006/relationships/slide" Target="/ppt/slides/slide13.xml" Id="R6153ebd535994597" /><Relationship Type="http://schemas.openxmlformats.org/officeDocument/2006/relationships/slide" Target="/ppt/slides/slide14.xml" Id="Rd275101a23fb4dd9" /><Relationship Type="http://schemas.openxmlformats.org/officeDocument/2006/relationships/slide" Target="/ppt/slides/slide15.xml" Id="R9f984eec8fa141b0" /><Relationship Type="http://schemas.openxmlformats.org/officeDocument/2006/relationships/slide" Target="/ppt/slides/slide16.xml" Id="R5a5d74036a394d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aa333a5a6c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ntinuous Pattern Classroom">
      <a:dk1>
        <a:srgbClr val="000000"/>
      </a:dk1>
      <a:lt1>
        <a:srgbClr val="FFFFFF"/>
      </a:lt1>
      <a:dk2>
        <a:srgbClr val="102F33"/>
      </a:dk2>
      <a:lt2>
        <a:srgbClr val="EEE9DF"/>
      </a:lt2>
      <a:accent1>
        <a:srgbClr val="245E5A"/>
      </a:accent1>
      <a:accent2>
        <a:srgbClr val="B54A3D"/>
      </a:accent2>
      <a:accent3>
        <a:srgbClr val="C4933F"/>
      </a:accent3>
      <a:accent4>
        <a:srgbClr val="2F5F86"/>
      </a:accent4>
      <a:accent5>
        <a:srgbClr val="7A5B8A"/>
      </a:accent5>
      <a:accent6>
        <a:srgbClr val="5D7F4F"/>
      </a:accent6>
      <a:hlink>
        <a:srgbClr val="2F5F86"/>
      </a:hlink>
      <a:folHlink>
        <a:srgbClr val="7A5B8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tinuous Pattern Class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4b3866749454b" /><Relationship Type="http://schemas.openxmlformats.org/officeDocument/2006/relationships/notesMaster" Target="/ppt/notesMasters/notesMaster1.xml" Id="Ra8d7a265dfb94d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0fc811a6b4f5d" /><Relationship Type="http://schemas.openxmlformats.org/officeDocument/2006/relationships/notesMaster" Target="/ppt/notesMasters/notesMaster1.xml" Id="Rcab0cfd949da4a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becff98e9344bc" /><Relationship Type="http://schemas.openxmlformats.org/officeDocument/2006/relationships/notesMaster" Target="/ppt/notesMasters/notesMaster1.xml" Id="Rfabed62601804a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934363a6c643b6" /><Relationship Type="http://schemas.openxmlformats.org/officeDocument/2006/relationships/notesMaster" Target="/ppt/notesMasters/notesMaster1.xml" Id="R5bbe2af14db340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4355654ca94603" /><Relationship Type="http://schemas.openxmlformats.org/officeDocument/2006/relationships/notesMaster" Target="/ppt/notesMasters/notesMaster1.xml" Id="Ree549b3f46be4a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1e3ec65bb34ece" /><Relationship Type="http://schemas.openxmlformats.org/officeDocument/2006/relationships/notesMaster" Target="/ppt/notesMasters/notesMaster1.xml" Id="Rc44ce2c85da141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3b5a54b9f46e7" /><Relationship Type="http://schemas.openxmlformats.org/officeDocument/2006/relationships/notesMaster" Target="/ppt/notesMasters/notesMaster1.xml" Id="Rc820967b8c1945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6d57b8acc4aab" /><Relationship Type="http://schemas.openxmlformats.org/officeDocument/2006/relationships/notesMaster" Target="/ppt/notesMasters/notesMaster1.xml" Id="R34803220807441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1f87176a6b4550" /><Relationship Type="http://schemas.openxmlformats.org/officeDocument/2006/relationships/notesMaster" Target="/ppt/notesMasters/notesMaster1.xml" Id="Re86e0101038b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a4be3fbc54683" /><Relationship Type="http://schemas.openxmlformats.org/officeDocument/2006/relationships/notesMaster" Target="/ppt/notesMasters/notesMaster1.xml" Id="R55c8ba78091642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e01fd450da4cbb" /><Relationship Type="http://schemas.openxmlformats.org/officeDocument/2006/relationships/notesMaster" Target="/ppt/notesMasters/notesMaster1.xml" Id="R14cbc5258e804d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01d050176a41aa" /><Relationship Type="http://schemas.openxmlformats.org/officeDocument/2006/relationships/notesMaster" Target="/ppt/notesMasters/notesMaster1.xml" Id="R03bd55257f8b4a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f5a593e01b4494" /><Relationship Type="http://schemas.openxmlformats.org/officeDocument/2006/relationships/notesMaster" Target="/ppt/notesMasters/notesMaster1.xml" Id="R196a8d36767644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9862ee605548ad" /><Relationship Type="http://schemas.openxmlformats.org/officeDocument/2006/relationships/notesMaster" Target="/ppt/notesMasters/notesMaster1.xml" Id="R707fede5beee4e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2708870c654af7" /><Relationship Type="http://schemas.openxmlformats.org/officeDocument/2006/relationships/notesMaster" Target="/ppt/notesMasters/notesMaster1.xml" Id="Rdbda4e9a63334f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87e6fbb6d5425b" /><Relationship Type="http://schemas.openxmlformats.org/officeDocument/2006/relationships/notesMaster" Target="/ppt/notesMasters/notesMaster1.xml" Id="R0280576c3edf47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开场不讲AI功能，先说明今天仍然学习教材活动1，只增加一个挑战：规则必须能被陌生人执行。</a:t>
            </a:r>
          </a:p>
          <a:p xmlns:a="http://schemas.openxmlformats.org/drawingml/2006/main">
            <a:r>
              <a:t>建议用时：1分钟。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上海教育出版社《数学教学参考资料（七年级上册）2025》，“从传统连续纹样到现代镶嵌图案”部分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强调教材教师用书给活动1的建议课时就是1课时。今天不做校园设计节，不扩展到四方连续和镶嵌。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本页教材图样来自用户提供课件《综合与实践-从传统连续纹样到现代镶嵌图案》，第10页</a:t>
            </a:r>
          </a:p>
          <a:p xmlns:a="http://schemas.openxmlformats.org/drawingml/2006/main">
            <a:r>
              <a:t>- 上海教育出版社《数学教学参考资料（七年级上册）2025》，第187—189页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向学生宣布任务条件：规则作者不能给原图、不能口头解释；执行者可以在无法确定处标“？”。</a:t>
            </a:r>
          </a:p>
          <a:p xmlns:a="http://schemas.openxmlformats.org/drawingml/2006/main">
            <a:r>
              <a:t>建议用时：1分钟。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分配教材表1第二、三、四行。学生先个人圈画，再小组比较。</a:t>
            </a:r>
          </a:p>
          <a:p xmlns:a="http://schemas.openxmlformats.org/drawingml/2006/main">
            <a:r>
              <a:t>不要急着判“唯一单位”，重点追问哪种单位更便于说明生成关系。</a:t>
            </a:r>
          </a:p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教材活动1表1，用户提供课件《综合与实践-从传统连续纹样到现代镶嵌图案》第10—12页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学生写规则卡1.0，教师不提供五要素。保留“缺口”，才能让后面的执行差异成为证据。</a:t>
            </a:r>
          </a:p>
          <a:p xmlns:a="http://schemas.openxmlformats.org/drawingml/2006/main">
            <a:r>
              <a:t>建议用时：5分钟。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执行者可在方格纸上画，也可只画运动框和关键点。</a:t>
            </a:r>
          </a:p>
          <a:p xmlns:a="http://schemas.openxmlformats.org/drawingml/2006/main">
            <a:r>
              <a:t>教师巡看时只问“你依据规则中的哪句话这样画”，不替作者解释。</a:t>
            </a:r>
          </a:p>
          <a:p xmlns:a="http://schemas.openxmlformats.org/drawingml/2006/main">
            <a:r>
              <a:t>建议用时：5分钟。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把两张同伴盲执行图或预设示意并列。</a:t>
            </a:r>
          </a:p>
          <a:p xmlns:a="http://schemas.openxmlformats.org/drawingml/2006/main">
            <a:r>
              <a:t>引出：没有写“仅平移”或“先轴对称再平移”时，规则本身可能允许多解。</a:t>
            </a:r>
          </a:p>
          <a:p xmlns:a="http://schemas.openxmlformats.org/drawingml/2006/main">
            <a:r>
              <a:t>建议用时：2分钟。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由学生刚才的追问归纳五要素，不要求机械背符号。</a:t>
            </a:r>
          </a:p>
          <a:p xmlns:a="http://schemas.openxmlformats.org/drawingml/2006/main">
            <a:r>
              <a:t>“V验收条件”是本课区别于一般提示词写作的关键。</a:t>
            </a:r>
          </a:p>
          <a:p xmlns:a="http://schemas.openxmlformats.org/drawingml/2006/main">
            <a:r>
              <a:t>建议用时：3分钟。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示例只用于全班共建后，不要在规则卡1.0之前出现。</a:t>
            </a:r>
          </a:p>
          <a:p xmlns:a="http://schemas.openxmlformats.org/drawingml/2006/main">
            <a:r>
              <a:t>提醒学生：平移本身已经保持形状和大小；“不变形”写入V，是为了验收AI输出。</a:t>
            </a:r>
          </a:p>
          <a:p xmlns:a="http://schemas.openxmlformats.org/drawingml/2006/main">
            <a:r>
              <a:t>建议用时：2分钟。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每组选一条仍有争议的规则输入。只允许一次生成，避免课堂变成反复试词。</a:t>
            </a:r>
          </a:p>
          <a:p xmlns:a="http://schemas.openxmlformats.org/drawingml/2006/main">
            <a:r>
              <a:t>若现场网络不可用，展示课前保存的三份典型输出。</a:t>
            </a:r>
          </a:p>
          <a:p xmlns:a="http://schemas.openxmlformats.org/drawingml/2006/main">
            <a:r>
              <a:t>建议用时：5分钟。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教育部基础教育教学指导委员会《中小学生成式人工智能使用指南（2025年版）》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用矩阵澄清：一致性只能用于初步诊断，不能替代正确性判断。</a:t>
            </a:r>
          </a:p>
          <a:p xmlns:a="http://schemas.openxmlformats.org/drawingml/2006/main">
            <a:r>
              <a:t>特别讨论“规则明确但AI违规”的情形，保护学生的数学判断权。</a:t>
            </a:r>
          </a:p>
          <a:p xmlns:a="http://schemas.openxmlformats.org/drawingml/2006/main">
            <a:r>
              <a:t>建议用时：3分钟。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学生在AI输出或同伴图上直接标注证据。</a:t>
            </a:r>
          </a:p>
          <a:p xmlns:a="http://schemas.openxmlformats.org/drawingml/2006/main">
            <a:r>
              <a:t>不要单独说“连续性”，使用“边界衔接的一致性”，避免与函数连续性混淆。</a:t>
            </a:r>
          </a:p>
          <a:p xmlns:a="http://schemas.openxmlformats.org/drawingml/2006/main">
            <a:r>
              <a:t>建议用时：4分钟。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这一页用于提升数学深度：学生区分局部对应与整体延展。</a:t>
            </a:r>
          </a:p>
          <a:p xmlns:a="http://schemas.openxmlformats.org/drawingml/2006/main">
            <a:r>
              <a:t>也可以改成平移距离大于单位宽度，形成空隙。</a:t>
            </a:r>
          </a:p>
          <a:p xmlns:a="http://schemas.openxmlformats.org/drawingml/2006/main">
            <a:r>
              <a:t>建议用时：2分钟。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要求每组只完成一条最关键修订，控制时间。</a:t>
            </a:r>
          </a:p>
          <a:p xmlns:a="http://schemas.openxmlformats.org/drawingml/2006/main">
            <a:r>
              <a:t>记录句式：偏差—原因—修改—再检验。</a:t>
            </a:r>
          </a:p>
          <a:p xmlns:a="http://schemas.openxmlformats.org/drawingml/2006/main">
            <a:r>
              <a:t>建议用时：3分钟。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迁移仍使用教材表1另一行，不另设新项目。</a:t>
            </a:r>
          </a:p>
          <a:p xmlns:a="http://schemas.openxmlformats.org/drawingml/2006/main">
            <a:r>
              <a:t>学生个人完成，防止小组作品遮蔽个体差异。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教材活动1表1，用户提供课件《综合与实践-从传统连续纹样到现代镶嵌图案》第10—12页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学生个人完成后收回，作为论文中应用意识的个体证据。</a:t>
            </a:r>
          </a:p>
          <a:p xmlns:a="http://schemas.openxmlformats.org/drawingml/2006/main">
            <a:r>
              <a:t>结束语：AI只负责把规则的后果显示出来，最终判断仍属于数学。</a:t>
            </a:r>
          </a:p>
          <a:p xmlns:a="http://schemas.openxmlformats.org/drawingml/2006/main">
            <a:r>
              <a:t>建议用时：2分钟。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中华人民共和国教育部《义务教育数学课程标准（2022年版）》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c59b93244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330419c4d413a" /><Relationship Type="http://schemas.openxmlformats.org/officeDocument/2006/relationships/slideLayout" Target="/ppt/slideLayouts/slideLayout1.xml" Id="R412daa5f0a6748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daa5f0a6748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ntinuous Pattern Classroom">
      <a:dk1>
        <a:srgbClr val="000000"/>
      </a:dk1>
      <a:lt1>
        <a:srgbClr val="FFFFFF"/>
      </a:lt1>
      <a:dk2>
        <a:srgbClr val="102F33"/>
      </a:dk2>
      <a:lt2>
        <a:srgbClr val="EEE9DF"/>
      </a:lt2>
      <a:accent1>
        <a:srgbClr val="245E5A"/>
      </a:accent1>
      <a:accent2>
        <a:srgbClr val="B54A3D"/>
      </a:accent2>
      <a:accent3>
        <a:srgbClr val="C4933F"/>
      </a:accent3>
      <a:accent4>
        <a:srgbClr val="2F5F86"/>
      </a:accent4>
      <a:accent5>
        <a:srgbClr val="7A5B8A"/>
      </a:accent5>
      <a:accent6>
        <a:srgbClr val="5D7F4F"/>
      </a:accent6>
      <a:hlink>
        <a:srgbClr val="2F5F86"/>
      </a:hlink>
      <a:folHlink>
        <a:srgbClr val="7A5B8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tinuous Pattern Class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bda7f11864c75" /><Relationship Type="http://schemas.openxmlformats.org/officeDocument/2006/relationships/notesSlide" Target="/ppt/notesSlides/notesSlide1.xml" Id="R4e0863222bf6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d96da625143a6" /><Relationship Type="http://schemas.openxmlformats.org/officeDocument/2006/relationships/image" Target="/ppt/media/image.png" Id="R1b728ae5ee8b4df7" /><Relationship Type="http://schemas.openxmlformats.org/officeDocument/2006/relationships/notesSlide" Target="/ppt/notesSlides/notesSlide2.xml" Id="Rc16a17f46ec4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dfd3aa59c4543" /><Relationship Type="http://schemas.openxmlformats.org/officeDocument/2006/relationships/notesSlide" Target="/ppt/notesSlides/notesSlide3.xml" Id="R2e4d2698b2a34e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f5cda80d94b1c" /><Relationship Type="http://schemas.openxmlformats.org/officeDocument/2006/relationships/notesSlide" Target="/ppt/notesSlides/notesSlide4.xml" Id="R3e0b74d17d57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206551bcc4268" /><Relationship Type="http://schemas.openxmlformats.org/officeDocument/2006/relationships/notesSlide" Target="/ppt/notesSlides/notesSlide5.xml" Id="Rbc8034c31dda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bb7209ec9409c" /><Relationship Type="http://schemas.openxmlformats.org/officeDocument/2006/relationships/notesSlide" Target="/ppt/notesSlides/notesSlide6.xml" Id="Ra7ee990ce0bf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9cc53a2d740f2" /><Relationship Type="http://schemas.openxmlformats.org/officeDocument/2006/relationships/notesSlide" Target="/ppt/notesSlides/notesSlide7.xml" Id="Rdd6f6ac8646f48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535b033354791" /><Relationship Type="http://schemas.openxmlformats.org/officeDocument/2006/relationships/notesSlide" Target="/ppt/notesSlides/notesSlide8.xml" Id="Rc0d2bf4a158e43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a1d9b78ca45d5" /><Relationship Type="http://schemas.openxmlformats.org/officeDocument/2006/relationships/notesSlide" Target="/ppt/notesSlides/notesSlide9.xml" Id="Re6e5c49fab3f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b284595f04c42" /><Relationship Type="http://schemas.openxmlformats.org/officeDocument/2006/relationships/notesSlide" Target="/ppt/notesSlides/notesSlide10.xml" Id="R64988a80f9384d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372132e34459a" /><Relationship Type="http://schemas.openxmlformats.org/officeDocument/2006/relationships/notesSlide" Target="/ppt/notesSlides/notesSlide11.xml" Id="Ra4bda8cf85b745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11d3f7b64f9b" /><Relationship Type="http://schemas.openxmlformats.org/officeDocument/2006/relationships/notesSlide" Target="/ppt/notesSlides/notesSlide12.xml" Id="Rdbbea4222de049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8f475f5de4440" /><Relationship Type="http://schemas.openxmlformats.org/officeDocument/2006/relationships/notesSlide" Target="/ppt/notesSlides/notesSlide13.xml" Id="Ra510698b012c46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2224393944e7c" /><Relationship Type="http://schemas.openxmlformats.org/officeDocument/2006/relationships/notesSlide" Target="/ppt/notesSlides/notesSlide14.xml" Id="R35d250077bfe4f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7848a9eb9446c" /><Relationship Type="http://schemas.openxmlformats.org/officeDocument/2006/relationships/notesSlide" Target="/ppt/notesSlides/notesSlide15.xml" Id="R9dc00d0242c945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a27f8655e4928" /><Relationship Type="http://schemas.openxmlformats.org/officeDocument/2006/relationships/notesSlide" Target="/ppt/notesSlides/notesSlide16.xml" Id="R21bf89b3cbb1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DF97D7-D953-4BE0-A33A-21241F7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920AD-B6FF-4820-8A71-00F8610F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4933F"/>
                </a:solidFill>
              </a:defRPr>
            </a:pPr>
            <a:r>
              <a:rPr sz="1125" b="1" i="0">
                <a:solidFill>
                  <a:srgbClr val="C4933F"/>
                </a:solidFill>
              </a:rPr>
              <a:t>教材综合与实践 · 活动1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7A0F3-BDC0-4CB9-AAF9-FF4432C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从图形运动到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可检验规则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9CB24-A25E-4CF4-B4E4-B16EF1A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FE0DA"/>
                </a:solidFill>
              </a:defRPr>
            </a:pPr>
            <a:r>
              <a:rPr sz="1650" b="0" i="0">
                <a:solidFill>
                  <a:srgbClr val="CFE0DA"/>
                </a:solidFill>
              </a:rPr>
              <a:t>让同伴能复现 · 让AI能执行 · 让结果能检验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ED717-BE2E-487C-8AE8-FBAB38EE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CD5A0-CF46-4CBA-B598-DAECA730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5D9D8"/>
                </a:solidFill>
              </a:defRPr>
            </a:pPr>
            <a:r>
              <a:rPr sz="1350" b="0" i="0">
                <a:solidFill>
                  <a:srgbClr val="D5D9D8"/>
                </a:solidFill>
              </a:rPr>
              <a:t>二方连续纹样｜七年级上册｜40分钟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AA1CA-7B86-47FE-839C-5B9D61DD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00125"/>
            <a:ext cx="3714750" cy="46672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3E42"/>
          </a:solidFill>
          <a:ln xmlns:a="http://schemas.openxmlformats.org/drawingml/2006/main" w="11430">
            <a:solidFill>
              <a:srgbClr val="3D69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D9371-1E09-4FC6-AEA4-B8ACCAE9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2190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B67D3-5C63-427A-937B-0A976C6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2370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B28A1-096B-44CB-A5BB-E860159A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620476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03A98-A927-4595-B11D-5C19CA50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200549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6F12E-DDA6-488F-94B8-F5AB668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528" y="2110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F7A59-BBA8-445C-B1C0-C2E073A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190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F1BB1-0401-4151-B76E-E66F8A1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573" y="2370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8F615-7A65-4E7B-AE56-1ABC8509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401526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1DADB-0289-4F06-8679-8CBC3AE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981599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2CB96-0E6E-4AC7-8BF9-2DC2270D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578" y="2110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358CB-B804-4D36-8883-C0978BB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190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5A271-F6E0-49B5-AF6E-5F8270C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623" y="2370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3765E-28D5-416A-8E91-74C798B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182576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59083-877E-4B41-A83C-4E506FDE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762649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01ACE-D119-4010-9FEB-44461541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628" y="2110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55C4F6-5825-4436-A24E-2EF1744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2190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67BA4-B021-495F-898B-B56E2F6C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673" y="2370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6E50FA-6C2D-419E-AA5E-D6E94B9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963626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3DAC2-0A33-4DFE-84AD-C366DCA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0543699" y="2340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EA833B-A0AD-43BF-B44E-483D28C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678" y="2110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87303A-8137-4010-A283-46F904F7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333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86F24-695F-462B-9685-75500AE9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523" y="3513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D97B9-259F-4700-B9A7-3483A4D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620476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AB884-ED60-4E05-8DCF-7055FEC1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200549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B5EB4-F48C-483F-B7B0-07EF8DA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0528" y="3253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EF879-56E3-4C78-9358-9A7B9F8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91550" y="3333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C6A96-7BFB-45C5-B8D8-67E9AA4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573" y="3513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941023-D996-4B15-BCEC-EF4B4762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401526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D71FEF-C886-47D8-97C1-E75CBAE1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981599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3945DB-BF0C-48B8-825F-F1EFAAAF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578" y="381381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CF1DBB-C66E-402C-9583-A2BEA026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3333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9B355E-BFD2-49B7-BDC2-E21F7D9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623" y="3513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C8AEA-A8CF-4E3C-8D3B-5DD35101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182576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AFAF2F-E531-44DD-95A8-F82EE64F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762649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0B63EE-1EA6-4AFF-809C-EA8F931C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628" y="325374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BE77B7-CE5E-4D5C-9C5B-82ABB4F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153650" y="3333750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6F53C9-C7AA-4987-B437-F796CB7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673" y="3513773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CF646A-9C2B-4167-8F04-07B2DB0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963626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B1CF6D-85AB-4AA0-A9A0-DA2C451D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0543699" y="3483769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322C19-6DB5-42BB-8129-33FA63FC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678" y="3813810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24298D-325D-4270-A91F-6BFAE0D0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观察 → 表达 → 检验 → 迁移</a:t>
            </a:r>
          </a:p>
        </p:txBody>
      </p:sp>
    </p:spTree>
    <p:extLst>
      <p:ext uri="{BB962C8B-B14F-4D97-AF65-F5344CB8AC3E}">
        <p14:creationId xmlns:p14="http://schemas.microsoft.com/office/powerpoint/2010/main" val="1531488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F5D14-8241-4A21-82E8-FE5BD1D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1D7FC-4520-41A5-8173-54BF233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教材原任务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35A5B-11C1-4D60-83DE-B0704827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今天不另起项目：就在教材表1里研究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99A74-D6AF-42D5-8050-2E03E0D4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02095-2C08-46AC-914D-A3E17FE5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28ae5ee8b4df7"/>
          <a:srcRect xmlns:a="http://schemas.openxmlformats.org/drawingml/2006/main" l="5496" t="0" r="54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76375"/>
            <a:ext cx="70866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DA450-8150-4589-927C-3D028C10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1051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F86"/>
                </a:solidFill>
              </a:defRPr>
            </a:pPr>
            <a:r>
              <a:rPr sz="1875" b="1" i="0">
                <a:solidFill>
                  <a:srgbClr val="2F5F86"/>
                </a:solidFill>
              </a:rPr>
              <a:t>原任务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 i="0">
                <a:solidFill>
                  <a:srgbClr val="2F5F86"/>
                </a:solidFill>
              </a:defRPr>
            </a:pPr>
            <a:r>
              <a:rPr sz="1875" b="1" i="0">
                <a:solidFill>
                  <a:srgbClr val="2F5F86"/>
                </a:solidFill>
              </a:rPr>
              <a:t>找出单位纹样</a:t>
            </a:r>
          </a:p>
          <a:p xmlns:a="http://schemas.openxmlformats.org/drawingml/2006/main">
            <a:pPr algn="ctr">
              <a:defRPr sz="1875" b="1" i="0">
                <a:solidFill>
                  <a:srgbClr val="2F5F86"/>
                </a:solidFill>
              </a:defRPr>
            </a:pPr>
            <a:r>
              <a:rPr sz="1875" b="1" i="0">
                <a:solidFill>
                  <a:srgbClr val="2F5F86"/>
                </a:solidFill>
              </a:rPr>
              <a:t>识别变换方式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84C45-C0C3-449B-B450-214869E1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B54A3D"/>
                </a:solidFill>
              </a:defRPr>
            </a:pPr>
            <a:r>
              <a:rPr sz="1875" b="1" i="0">
                <a:solidFill>
                  <a:srgbClr val="B54A3D"/>
                </a:solidFill>
              </a:rPr>
              <a:t>再设计只多问一步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 i="0">
                <a:solidFill>
                  <a:srgbClr val="B54A3D"/>
                </a:solidFill>
              </a:defRPr>
            </a:pPr>
            <a:r>
              <a:rPr sz="1875" b="1" i="0">
                <a:solidFill>
                  <a:srgbClr val="B54A3D"/>
                </a:solidFill>
              </a:rPr>
              <a:t>你写的规则，</a:t>
            </a:r>
          </a:p>
          <a:p xmlns:a="http://schemas.openxmlformats.org/drawingml/2006/main">
            <a:pPr algn="ctr">
              <a:defRPr sz="1875" b="1" i="0">
                <a:solidFill>
                  <a:srgbClr val="B54A3D"/>
                </a:solidFill>
              </a:defRPr>
            </a:pPr>
            <a:r>
              <a:rPr sz="1875" b="1" i="0">
                <a:solidFill>
                  <a:srgbClr val="B54A3D"/>
                </a:solidFill>
              </a:rPr>
              <a:t>陌生人能否复现？</a:t>
            </a:r>
          </a:p>
        </p:txBody>
      </p:sp>
    </p:spTree>
    <p:extLst>
      <p:ext uri="{BB962C8B-B14F-4D97-AF65-F5344CB8AC3E}">
        <p14:creationId xmlns:p14="http://schemas.microsoft.com/office/powerpoint/2010/main" val="1243832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3EDAD-2FAE-47E2-9AF1-141C156D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AA93D-F1BD-4468-8AC7-E7AD9FF5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核心挑战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BD030-072A-4F4B-9B7B-28900F6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一条好规则，要经得起“看不见原图”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E4A23-D125-4BD7-BA6C-5848021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52E10-04B7-4BBD-B2D7-BE8E3ACA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A861A-E0BD-4979-B777-AFF85EF5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B2932"/>
                </a:solidFill>
              </a:defRPr>
            </a:pPr>
            <a:r>
              <a:rPr sz="2250" b="1" i="0">
                <a:solidFill>
                  <a:srgbClr val="1B2932"/>
                </a:solidFill>
              </a:rPr>
              <a:t>请想象：原图被收走了。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FA329-82E9-4606-ADF0-8DA1F95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45E5A"/>
                </a:solidFill>
              </a:defRPr>
            </a:pPr>
            <a:r>
              <a:rPr sz="1875" b="1" i="0">
                <a:solidFill>
                  <a:srgbClr val="245E5A"/>
                </a:solidFill>
              </a:rPr>
              <a:t>规则作者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02B74-22E7-4F16-9900-20D5E43F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9557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54A3D"/>
                </a:solidFill>
              </a:defRPr>
            </a:pPr>
            <a:r>
              <a:rPr sz="1800" b="1" i="0">
                <a:solidFill>
                  <a:srgbClr val="B54A3D"/>
                </a:solidFill>
              </a:rPr>
              <a:t>只交文字规则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1B256-758F-4B1C-8271-2AE29465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80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C4933F"/>
                </a:solidFill>
              </a:defRPr>
            </a:pPr>
            <a:r>
              <a:rPr sz="3600" b="1" i="0">
                <a:solidFill>
                  <a:srgbClr val="C4933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A49EF-8E1F-4E87-AEDF-4D1C912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F86"/>
                </a:solidFill>
              </a:defRPr>
            </a:pPr>
            <a:r>
              <a:rPr sz="1875" b="1" i="0">
                <a:solidFill>
                  <a:srgbClr val="2F5F86"/>
                </a:solidFill>
              </a:rPr>
              <a:t>陌生执行者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B667B-1F74-45C4-B30E-1817783D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481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102F33"/>
                </a:solidFill>
              </a:defRPr>
            </a:pPr>
            <a:r>
              <a:rPr sz="3000" b="1" i="0">
                <a:solidFill>
                  <a:srgbClr val="102F33"/>
                </a:solidFill>
              </a:rPr>
              <a:t>能否画出前三个单元？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1243E-CCC3-45E8-A677-0443165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00625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727A"/>
                </a:solidFill>
              </a:defRPr>
            </a:pPr>
            <a:r>
              <a:rPr sz="1650" b="0" i="0">
                <a:solidFill>
                  <a:srgbClr val="66727A"/>
                </a:solidFill>
              </a:rPr>
              <a:t>标准不是“我懂你的意思”，而是“规则排除了别的解释”。</a:t>
            </a:r>
          </a:p>
        </p:txBody>
      </p:sp>
    </p:spTree>
    <p:extLst>
      <p:ext uri="{BB962C8B-B14F-4D97-AF65-F5344CB8AC3E}">
        <p14:creationId xmlns:p14="http://schemas.microsoft.com/office/powerpoint/2010/main" val="1916527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348BAA-A027-47EE-B770-2D20E3F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45030-1865-4C21-B5AA-8C83CD22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先观察，再命名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68F2C-419A-49CC-8D97-742384C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任务1｜圈单位 · 标对应点 · 画运动箭头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4D79A-7195-495F-9CA4-1372202C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C7587-3028-4BB8-82B9-E6E5D9C9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17664-C6DE-454F-8565-9FADCA8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2383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E8998-ECEE-46C4-82D5-46D72F6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43975-A32F-47BC-971D-BBFCF56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293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D974D-F437-4E3A-94E8-3E467F1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554004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06E3F-ADA7-4113-B389-400E901F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2189321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8054D-EB33-438B-883D-C9B53DD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108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85E59-D437-4385-8E30-BE8B9416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1C172-D1A2-4A6E-B987-73B21016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918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38C75-4EBF-4073-89FE-F34D13D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2744629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6B787-276A-484C-AECA-874CC36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379946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0D9B6-804D-4FD6-B587-F61FA70F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33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C8FCC-E4CD-4AC8-B769-30C42521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3375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6BA26-7DDD-46C8-BF11-C134237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0543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AE054-C9F2-4CAE-A3E3-B5E98C5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935254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A4290-3427-4827-9251-450A280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4570571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65B6C-0632-4D20-80D4-03599AD8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358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2CCAD-BA1E-4F25-9D7B-8EA9B48D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97BA7-F984-4527-BAEF-8D75109A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168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28FA0-66F9-462D-861A-12A9F82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5125879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D5C05-AA42-4291-98E2-49BCAEB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5761196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C3E2E-820F-4640-ADE2-C59E77E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83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157F17-3842-4D7B-AAB6-E2995E3A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027487-4F40-464E-A2B8-29127C4D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793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97E13-C085-429A-BB4E-0AADCCA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316504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233F7-0757-48D3-AEE1-CE07B556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951821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5CB117-3D9F-4CBD-93B0-CB6C6FAD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5608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FB6A64-22F2-4228-ACFF-E22E14C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90CEB-E22C-4FD9-862A-8F90DC5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418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FADCC9-E2A3-4BB8-845B-18E0147B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507129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3BC668-75D0-4818-93B3-E127930D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142446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51D49B-1BF7-4453-BBCC-36E7D9D4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233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C16135-17EA-4BD2-A4FA-339BC23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5875" y="2428875"/>
            <a:ext cx="613410" cy="61341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425C0F-D8B6-4611-AD96-65828BF5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043" y="2626043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2DB8AA-B066-4A12-A51E-D09AFD8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697754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328553-6BE1-4521-B20A-A9CBD18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333071" y="2593181"/>
            <a:ext cx="416242" cy="240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9FD8DA-4EC1-4319-B7DA-22ADC16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858" y="2341245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2AB0E0-83E3-4A22-8030-27E2D960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95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F86"/>
                </a:solidFill>
              </a:defRPr>
            </a:pPr>
            <a:r>
              <a:rPr sz="1200" b="1" i="0">
                <a:solidFill>
                  <a:srgbClr val="2F5F86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3299AE-78A5-4C6A-B02B-6480C99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5F86"/>
                </a:solidFill>
              </a:defRPr>
            </a:pPr>
            <a:r>
              <a:rPr sz="1200" b="1" i="0">
                <a:solidFill>
                  <a:srgbClr val="2F5F86"/>
                </a:solidFill>
              </a:rPr>
              <a:t>A′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49BDE5-93FC-4F0C-B9E2-5CB42C74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838325"/>
            <a:ext cx="61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2F5F86"/>
                </a:solidFill>
              </a:defRPr>
            </a:pPr>
            <a:r>
              <a:rPr sz="2400" b="0" i="0">
                <a:solidFill>
                  <a:srgbClr val="2F5F86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898B2F-5F3C-4383-9BE6-4B1A244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5E5A"/>
                </a:solidFill>
              </a:defRPr>
            </a:pPr>
            <a:r>
              <a:rPr sz="1575" b="1" i="0">
                <a:solidFill>
                  <a:srgbClr val="245E5A"/>
                </a:solidFill>
              </a:rPr>
              <a:t>① 你选的“最小单位”在哪里？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78421-EE55-40B9-AC57-08CC4363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24375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5F86"/>
                </a:solidFill>
              </a:defRPr>
            </a:pPr>
            <a:r>
              <a:rPr sz="1575" b="1" i="0">
                <a:solidFill>
                  <a:srgbClr val="2F5F86"/>
                </a:solidFill>
              </a:rPr>
              <a:t>② 对应点怎样移动？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72FBB3-E69E-4901-BCE0-D54AA45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333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E8CD"/>
          </a:solidFill>
          <a:ln xmlns:a="http://schemas.openxmlformats.org/drawingml/2006/main" w="11430">
            <a:solidFill>
              <a:srgbClr val="C493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7B5A1C"/>
                </a:solidFill>
              </a:defRPr>
            </a:pPr>
            <a:r>
              <a:rPr sz="1575" b="1" i="0">
                <a:solidFill>
                  <a:srgbClr val="7B5A1C"/>
                </a:solidFill>
              </a:rPr>
              <a:t>③ 同一纹样能选不同单位吗？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AF54F-0335-4984-8037-5EE7929B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10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54A3D"/>
                </a:solidFill>
              </a:defRPr>
            </a:pPr>
            <a:r>
              <a:rPr sz="1350" b="1" i="0">
                <a:solidFill>
                  <a:srgbClr val="B54A3D"/>
                </a:solidFill>
              </a:rPr>
              <a:t>个人2分钟 → 小组3分钟</a:t>
            </a:r>
          </a:p>
        </p:txBody>
      </p:sp>
    </p:spTree>
    <p:extLst>
      <p:ext uri="{BB962C8B-B14F-4D97-AF65-F5344CB8AC3E}">
        <p14:creationId xmlns:p14="http://schemas.microsoft.com/office/powerpoint/2010/main" val="239322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4DF81-7FB7-442D-9B86-916668D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A3F4A-C684-4110-B164-8CAC47D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不要先看模板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FB5D8-23F8-4555-9F5A-A3F2F9D3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规则卡1.0｜先写你的原生表达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2B7EE-2A81-4725-992D-7B691EC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E6BA5-6F8A-4D4A-81F6-513721F3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48956-EEA9-4399-95D6-DBE1F247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104394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B2932"/>
                </a:solidFill>
              </a:defRPr>
            </a:pPr>
            <a:r>
              <a:rPr sz="2550" b="1" i="0">
                <a:solidFill>
                  <a:srgbClr val="1B2932"/>
                </a:solidFill>
              </a:rPr>
              <a:t>“把这个图案向右连续复制。”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9D6A9-BB00-4559-A52E-B5B46EC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439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54A3D"/>
                </a:solidFill>
              </a:defRPr>
            </a:pPr>
            <a:r>
              <a:rPr sz="2100" b="1" i="0">
                <a:solidFill>
                  <a:srgbClr val="B54A3D"/>
                </a:solidFill>
              </a:rPr>
              <a:t>这句话让执行者必须猜什么？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CFDF1-0988-464D-A2D0-B65A29AB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5E5A"/>
                </a:solidFill>
              </a:defRPr>
            </a:pPr>
            <a:r>
              <a:rPr sz="1575" b="1" i="0">
                <a:solidFill>
                  <a:srgbClr val="245E5A"/>
                </a:solidFill>
              </a:rPr>
              <a:t>移动谁？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BF49D-F246-4AC2-BCF8-029FD7A3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5F86"/>
                </a:solidFill>
              </a:defRPr>
            </a:pPr>
            <a:r>
              <a:rPr sz="1575" b="1" i="0">
                <a:solidFill>
                  <a:srgbClr val="2F5F86"/>
                </a:solidFill>
              </a:rPr>
              <a:t>怎样移动？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CCD1-9283-4B9F-84DB-D5D4F2F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0050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5E5A"/>
                </a:solidFill>
              </a:defRPr>
            </a:pPr>
            <a:r>
              <a:rPr sz="1575" b="1" i="0">
                <a:solidFill>
                  <a:srgbClr val="245E5A"/>
                </a:solidFill>
              </a:rPr>
              <a:t>移动多少？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697C8-6CBA-425D-AA44-7225324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0050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5F86"/>
                </a:solidFill>
              </a:defRPr>
            </a:pPr>
            <a:r>
              <a:rPr sz="1575" b="1" i="0">
                <a:solidFill>
                  <a:srgbClr val="2F5F86"/>
                </a:solidFill>
              </a:rPr>
              <a:t>重复到哪里？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80C0F-D026-4106-B6F4-476FB050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905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5E5A"/>
                </a:solidFill>
              </a:defRPr>
            </a:pPr>
            <a:r>
              <a:rPr sz="1575" b="1" i="0">
                <a:solidFill>
                  <a:srgbClr val="245E5A"/>
                </a:solidFill>
              </a:rPr>
              <a:t>怎样算正确？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FE9B4-22E6-4954-893D-F95EC992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6727A"/>
                </a:solidFill>
              </a:defRPr>
            </a:pPr>
            <a:r>
              <a:rPr sz="1575" b="0" i="0">
                <a:solidFill>
                  <a:srgbClr val="66727A"/>
                </a:solidFill>
              </a:rPr>
              <a:t>现在先按你自己的语言写，不抄五要素。</a:t>
            </a:r>
          </a:p>
        </p:txBody>
      </p:sp>
    </p:spTree>
    <p:extLst>
      <p:ext uri="{BB962C8B-B14F-4D97-AF65-F5344CB8AC3E}">
        <p14:creationId xmlns:p14="http://schemas.microsoft.com/office/powerpoint/2010/main" val="239795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E1C9A-10C8-4B87-8C47-9EEA3DAA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46861-5D68-4BB1-B914-29EEA1E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第一执行者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9C990-64F9-4CF6-AE31-AF369F2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同伴盲执行｜不看原图，不猜作者意图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BA292-0253-4C77-B803-E363967A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3FD4F-9078-4111-9F50-DC8A6D5F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032E5-3E0A-4925-A4A4-73C687B5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B54A3D"/>
                </a:solidFill>
              </a:defRPr>
            </a:pPr>
            <a:r>
              <a:rPr sz="2625" b="1" i="0">
                <a:solidFill>
                  <a:srgbClr val="B54A3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8346-40CA-4300-A2B1-5A5B7AD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交换规则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只交文字，不交原图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17E94-2546-486F-919E-665FB01E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668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B54A3D"/>
                </a:solidFill>
              </a:defRPr>
            </a:pPr>
            <a:r>
              <a:rPr sz="2625" b="1" i="0">
                <a:solidFill>
                  <a:srgbClr val="B54A3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5A5EE-2A87-4A9C-8789-3F761E3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画前三单元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严格按规则，不能脑补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EFFD7-DD10-4681-89D3-1B63802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668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B54A3D"/>
                </a:solidFill>
              </a:defRPr>
            </a:pPr>
            <a:r>
              <a:rPr sz="2625" b="1" i="0">
                <a:solidFill>
                  <a:srgbClr val="B54A3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DC730-8237-4CB8-8CA9-C3A3B7BA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33625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标出“？”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方向、距离、轴、顺序不明就停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202A-1E47-44C5-A80C-F7975DA8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668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B54A3D"/>
                </a:solidFill>
              </a:defRPr>
            </a:pPr>
            <a:r>
              <a:rPr sz="2625" b="1" i="0">
                <a:solidFill>
                  <a:srgbClr val="B54A3D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020C0-7CA9-4317-9191-08CD97B4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381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写一句追问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指出哪一个词允许多种解释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77E98-DD96-495F-A1E8-335B9C41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2F33"/>
                </a:solidFill>
              </a:defRPr>
            </a:pPr>
            <a:r>
              <a:rPr sz="2100" b="1" i="0">
                <a:solidFill>
                  <a:srgbClr val="102F33"/>
                </a:solidFill>
              </a:rPr>
              <a:t>执行差异不是“失败”，而是规则缺口的第一层证据。</a:t>
            </a:r>
          </a:p>
        </p:txBody>
      </p:sp>
    </p:spTree>
    <p:extLst>
      <p:ext uri="{BB962C8B-B14F-4D97-AF65-F5344CB8AC3E}">
        <p14:creationId xmlns:p14="http://schemas.microsoft.com/office/powerpoint/2010/main" val="679615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7395CF-D299-462A-867D-8508B915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5230F-8CF3-4DEB-B0BE-A5D088D0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52014-275E-4EB0-80FF-8927AF14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同一句“向右连续排列”，为什么会有两个结果？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69060-0E0A-49F0-B67B-F6491D93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3AC00-DB12-4FA1-B052-DFB30B83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5B88C-A7D2-418B-A439-A645EA4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3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E5A"/>
                </a:solidFill>
              </a:defRPr>
            </a:pPr>
            <a:r>
              <a:rPr sz="1650" b="1" i="0">
                <a:solidFill>
                  <a:srgbClr val="245E5A"/>
                </a:solidFill>
              </a:rPr>
              <a:t>结果A｜全部同向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D9BF8-4246-4C4A-B41E-10F79612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5238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94192-EA57-4D1C-A2C5-FF0E3BF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7D7EF-A682-4550-AA5A-B875463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2B24C-DCD4-423F-8C07-7F60C19B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00060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6A55C-91C5-438A-B4CD-65C367E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58067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B253D-FCC9-4637-979F-A0A44B1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5574A-0DF5-4D10-B5A6-286757B0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E9BE4-8A6E-492A-8B42-CB692EC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64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D73D68-DFAF-4C76-AAF9-F10D808A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214360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BF520-2A6E-444D-A967-90905F32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272367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0C06D-CA69-4886-82B6-8A7F44F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65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6B434-6A51-4625-93D5-AE9D7BD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7342C-E5D7-44B2-8E1B-714A6B71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64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29C70-3FB1-487A-95BC-E4C8465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28660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62677-668E-4B98-8880-DA0EFAB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86667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C474F-D19C-45BD-BB32-9B589FF7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65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B6A9-19DB-44C9-8109-0B669B00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1F4AC-6128-45D8-9563-8BD14E91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64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38DEB-70A5-4068-8B49-0A2B7149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442960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DBB38-A470-4FC1-B3D7-A32A72F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500967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01149-6D3F-4305-859C-1148A4AA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65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C62D0-C8D7-43D4-865B-55F8F8B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3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结果B｜一正一反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77880-3881-4478-9C38-4501B2C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5238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A7E4A-556D-4FBF-B8F0-A91BA5E9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D70EB0-7C9B-4D14-820D-CC1FE1D1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039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43E1D-A861-4607-8FCC-5C5BC90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62035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E6AA8-32F9-4F97-A0F6-2CFFD465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20042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98714-D80F-4C5B-BC00-ABB8EE9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40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FB230A-C251-4F74-A55B-B55CA9B3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5337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48AB2A-C2E3-40C2-8E7D-3F45DF0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9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EA51CF-497E-4D99-BB75-99223A69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76335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AD1F8F-66B0-4EEA-8550-5494BE0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34342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391E76-EC3F-438C-AF02-348E45BE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403" y="357568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35EF41-0129-44C6-9B45-B20969E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96813A-9D4C-40FC-89A3-3DD3BC56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639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0C3916-E159-4716-AF23-1355EE71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90635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1CB58E-58B1-46A3-A418-B69E0078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48642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A37C1A-2CA7-4374-8ED4-564578F4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403" y="3015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EA219B-AB00-4C88-ACBC-035E442B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39375" y="3095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328C3-E4A2-4131-B38A-6D3396B9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398" y="3275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5DA3C4-C626-43D8-ADF0-C9DF98E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0049351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09AA55-70EA-41B0-A264-7C768725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0629424" y="3245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51107-679A-4AED-8396-5CC0174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9403" y="357568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73907C-3D63-42BB-B756-FCA3B7FC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2F33"/>
                </a:solidFill>
              </a:defRPr>
            </a:pPr>
            <a:r>
              <a:rPr sz="2025" b="1" i="0">
                <a:solidFill>
                  <a:srgbClr val="102F33"/>
                </a:solidFill>
              </a:rPr>
              <a:t>先别问“哪幅更像”｜请问：原规则排除了哪一种解释？</a:t>
            </a:r>
          </a:p>
        </p:txBody>
      </p:sp>
    </p:spTree>
    <p:extLst>
      <p:ext uri="{BB962C8B-B14F-4D97-AF65-F5344CB8AC3E}">
        <p14:creationId xmlns:p14="http://schemas.microsoft.com/office/powerpoint/2010/main" val="1553172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5D4A16-8BFA-479D-8629-7BBC914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208FA-1E0C-4881-A14F-EE5CCE44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规则脚手架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A94B-F0F5-4AA5-A80A-7D991BC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从执行差异中，提炼五个不可缺失的问题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8C6FA-3857-4419-844E-CDF43FF6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B364C-BFA9-423D-92A3-77CA8A0C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D9705-984D-4A82-BD9F-04372EC3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716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45E5A"/>
                </a:solidFill>
              </a:defRPr>
            </a:pPr>
            <a:r>
              <a:rPr sz="3450" b="1" i="0">
                <a:solidFill>
                  <a:srgbClr val="245E5A"/>
                </a:solidFill>
              </a:rPr>
              <a:t>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CF611-2FC2-4C36-803A-AEE8780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81250"/>
            <a:ext cx="2076450" cy="2095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基本图案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移动谁？边界在哪里？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A70F-A473-4633-81D0-F9609F3D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F5F86"/>
                </a:solidFill>
              </a:defRPr>
            </a:pPr>
            <a:r>
              <a:rPr sz="3450" b="1" i="0">
                <a:solidFill>
                  <a:srgbClr val="2F5F86"/>
                </a:solidFill>
              </a:rPr>
              <a:t>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2C69F-C670-4435-AC23-589B98CB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2076450" cy="2095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运动方式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平移／旋转／轴对称？顺序？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7B741-04C5-4057-9DE3-2FAD88A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5716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B54A3D"/>
                </a:solidFill>
              </a:defRPr>
            </a:pPr>
            <a:r>
              <a:rPr sz="3450" b="1" i="0">
                <a:solidFill>
                  <a:srgbClr val="B54A3D"/>
                </a:solidFill>
              </a:rPr>
              <a:t>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E757E-5009-4828-82E8-456505D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81250"/>
            <a:ext cx="2076450" cy="2095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运动要素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方向、距离、轴／中心／角度？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912E-A474-4EB4-95F7-016DBE21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716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C4933F"/>
                </a:solidFill>
              </a:defRPr>
            </a:pPr>
            <a:r>
              <a:rPr sz="3450" b="1" i="0">
                <a:solidFill>
                  <a:srgbClr val="C4933F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D9842-DB48-48E6-A350-A0E47C2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2076450" cy="2095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4E8CD"/>
          </a:solidFill>
          <a:ln xmlns:a="http://schemas.openxmlformats.org/drawingml/2006/main" w="11430">
            <a:solidFill>
              <a:srgbClr val="C493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重复范围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向哪里、重复几次？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6BC0B-5843-42D6-9AF6-43BC4506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245E5A"/>
                </a:solidFill>
              </a:defRPr>
            </a:pPr>
            <a:r>
              <a:rPr sz="3450" b="1" i="0">
                <a:solidFill>
                  <a:srgbClr val="245E5A"/>
                </a:solidFill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1FCFF-B6F1-4D87-B13C-846DD422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81250"/>
            <a:ext cx="2076450" cy="209550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验收条件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怎样用数学证据判定？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595ED-71A3-486B-9295-7B41A5E4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02F33"/>
                </a:solidFill>
              </a:defRPr>
            </a:pPr>
            <a:r>
              <a:rPr sz="2850" b="1" i="0">
                <a:solidFill>
                  <a:srgbClr val="102F33"/>
                </a:solidFill>
              </a:rPr>
              <a:t>R = ( G , T , λ , D , V 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851C0-ACCD-4668-8171-563FB5B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19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27A"/>
                </a:solidFill>
              </a:defRPr>
            </a:pPr>
            <a:r>
              <a:rPr sz="1500" b="0" i="0">
                <a:solidFill>
                  <a:srgbClr val="66727A"/>
                </a:solidFill>
              </a:rPr>
              <a:t>符号可以不背，但五个问题必须能回答。</a:t>
            </a:r>
          </a:p>
        </p:txBody>
      </p:sp>
    </p:spTree>
    <p:extLst>
      <p:ext uri="{BB962C8B-B14F-4D97-AF65-F5344CB8AC3E}">
        <p14:creationId xmlns:p14="http://schemas.microsoft.com/office/powerpoint/2010/main" val="1680395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140DE-4EA4-41EA-9BD3-B3D9E0F6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96771-8DD0-4B25-BB63-1054B4B9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3419A-8E80-41EF-BAA3-ECA48983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把“向右复制”改成一条可执行规则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6B83-DC5A-4DFF-B75D-819364CE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5B921-03C5-4BBE-8BC8-3BBCE023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813B7-2355-4C63-84C9-6BD247C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4476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2383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D43D0-50D2-4D39-B456-D99B9006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" y="3000375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16737-C644-4CD7-BAD6-3AAFFBD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" y="318897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A839A-0B6F-4142-AFE9-05A3B4C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91553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52A59-9A62-4998-BC3C-0EAC930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599248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E2978-BDC6-4AB8-A277-96A824C5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" y="2916555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CFBB4-EA43-4B81-901C-9E1292C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1190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6B8B-3C5A-4CD1-BA17-2806818D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3000375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963EB-D12F-4C81-B40D-0B3E1A03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318897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22A15-3FC3-49DD-A917-676E3B6D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2182178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0B9D0-F3C6-40ED-B662-BEBDDBB0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2789873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5C7D8-A713-4BF7-A48D-8F149667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755" y="2916555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0208F-5397-4DF4-B2F0-3BD562B1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28925"/>
            <a:ext cx="1190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21524-904A-4663-8B66-7CD1F33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000375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A4BA2-8E46-42D5-806F-FD034A86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470" y="318897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32B8E-E532-4ECC-8549-04E8CBE0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372803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D5F95-1458-4C3A-ADCE-C2F18504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980498" y="3157538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E7FF4-9167-4E9F-8C14-827115E5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916555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7A2D1-D554-4255-9227-21E3806C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28925"/>
            <a:ext cx="1190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01D93-DB91-4FC0-94C5-ACB24E06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6479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5F86"/>
                </a:solidFill>
              </a:defRPr>
            </a:pPr>
            <a:r>
              <a:rPr sz="1125" b="1" i="0">
                <a:solidFill>
                  <a:srgbClr val="2F5F86"/>
                </a:solidFill>
              </a:rPr>
              <a:t>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25BB2-8EA2-4880-85A1-864F4587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479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5F86"/>
                </a:solidFill>
              </a:defRPr>
            </a:pPr>
            <a:r>
              <a:rPr sz="1125" b="1" i="0">
                <a:solidFill>
                  <a:srgbClr val="2F5F86"/>
                </a:solidFill>
              </a:rPr>
              <a:t>A′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EEDD8-6D36-4822-B9C2-5FAA4DE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238375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54A3D"/>
                </a:solidFill>
              </a:defRPr>
            </a:pPr>
            <a:r>
              <a:rPr sz="1350" b="1" i="0">
                <a:solidFill>
                  <a:srgbClr val="B54A3D"/>
                </a:solidFill>
              </a:rPr>
              <a:t>4格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4D1E5-C876-4392-9084-78DDE257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B54A3D"/>
                </a:solidFill>
              </a:defRPr>
            </a:pPr>
            <a:r>
              <a:rPr sz="2100" b="0" i="0">
                <a:solidFill>
                  <a:srgbClr val="B54A3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6CF73-D150-4E95-8334-DB35023C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45E5A"/>
                </a:solidFill>
              </a:defRPr>
            </a:pPr>
            <a:r>
              <a:rPr sz="2175" b="1" i="0">
                <a:solidFill>
                  <a:srgbClr val="245E5A"/>
                </a:solidFill>
              </a:rPr>
              <a:t>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A4B9BD-F67C-4568-ABDD-1719484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6F4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B2932"/>
                </a:solidFill>
              </a:defRPr>
            </a:pPr>
            <a:r>
              <a:rPr sz="1500" b="0" i="0">
                <a:solidFill>
                  <a:srgbClr val="1B2932"/>
                </a:solidFill>
              </a:rPr>
              <a:t>以方格框内的叶形为一个单位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203153-1934-4724-B387-3D3A65E8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9077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F5F86"/>
                </a:solidFill>
              </a:defRPr>
            </a:pPr>
            <a:r>
              <a:rPr sz="2175" b="1" i="0">
                <a:solidFill>
                  <a:srgbClr val="2F5F86"/>
                </a:solidFill>
              </a:rPr>
              <a:t>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8B25B-60AB-4C4F-A3E1-67A6C74B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2410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B2932"/>
                </a:solidFill>
              </a:defRPr>
            </a:pPr>
            <a:r>
              <a:rPr sz="1500" b="0" i="0">
                <a:solidFill>
                  <a:srgbClr val="1B2932"/>
                </a:solidFill>
              </a:rPr>
              <a:t>只作平移，不旋转、不镜像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99DAF-FF3B-4529-8035-2D5E27E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99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54A3D"/>
                </a:solidFill>
              </a:defRPr>
            </a:pPr>
            <a:r>
              <a:rPr sz="2175" b="1" i="0">
                <a:solidFill>
                  <a:srgbClr val="B54A3D"/>
                </a:solidFill>
              </a:rPr>
              <a:t>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34B77-599E-4BF4-B48E-1AB5196F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6F4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B2932"/>
                </a:solidFill>
              </a:defRPr>
            </a:pPr>
            <a:r>
              <a:rPr sz="1500" b="0" i="0">
                <a:solidFill>
                  <a:srgbClr val="1B2932"/>
                </a:solidFill>
              </a:rPr>
              <a:t>每次向右平移4格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CD2BB8-8E6A-422D-96A7-DB6B82C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2907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4933F"/>
                </a:solidFill>
              </a:defRPr>
            </a:pPr>
            <a:r>
              <a:rPr sz="2175" b="1" i="0">
                <a:solidFill>
                  <a:srgbClr val="C4933F"/>
                </a:solidFill>
              </a:rPr>
              <a:t>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5B805C-6B77-4E06-B3B0-788FE77C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6240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B2932"/>
                </a:solidFill>
              </a:defRPr>
            </a:pPr>
            <a:r>
              <a:rPr sz="1500" b="0" i="0">
                <a:solidFill>
                  <a:srgbClr val="1B2932"/>
                </a:solidFill>
              </a:rPr>
              <a:t>沿水平方向生成6个单元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35781E-0D50-4760-978E-CF64A15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48225"/>
            <a:ext cx="52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45E5A"/>
                </a:solidFill>
              </a:defRPr>
            </a:pPr>
            <a:r>
              <a:rPr sz="2175" b="1" i="0">
                <a:solidFill>
                  <a:srgbClr val="245E5A"/>
                </a:solidFill>
              </a:rPr>
              <a:t>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D9D710-4A29-4080-8654-27EE480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81550"/>
            <a:ext cx="5048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6F4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对应点同向等距；图形不变形；相邻边界无缝、无重叠</a:t>
            </a:r>
          </a:p>
        </p:txBody>
      </p:sp>
    </p:spTree>
    <p:extLst>
      <p:ext uri="{BB962C8B-B14F-4D97-AF65-F5344CB8AC3E}">
        <p14:creationId xmlns:p14="http://schemas.microsoft.com/office/powerpoint/2010/main" val="34567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367CD-0C98-4F77-A761-C4FA1299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FF214-F53D-4718-9664-DAB430DC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第二执行者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B5905-1BC8-4F6A-B9C7-AC80A96B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把规则交给AI｜只执行一次，保留原始输出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586EE-2605-4BD0-9320-1E5E8DA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B6B0D-6104-43CF-A0F3-EE904F1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B63E5-2FAF-4CFF-8ED7-29B05CC9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66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统一执行提示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038A8-9373-4722-993D-2863EDD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0763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B2932"/>
                </a:solidFill>
              </a:defRPr>
            </a:pPr>
            <a:r>
              <a:rPr sz="2100" b="0" i="0">
                <a:solidFill>
                  <a:srgbClr val="1B2932"/>
                </a:solidFill>
              </a:rPr>
              <a:t>只按下列规则执行，不自行补充。</a:t>
            </a:r>
          </a:p>
          <a:p xmlns:a="http://schemas.openxmlformats.org/drawingml/2006/main">
            <a:pPr algn="l">
              <a:defRPr sz="2100" b="0" i="0">
                <a:solidFill>
                  <a:srgbClr val="1B2932"/>
                </a:solidFill>
              </a:defRPr>
            </a:pPr>
            <a:r>
              <a:rPr sz="2100" b="0" i="0">
                <a:solidFill>
                  <a:srgbClr val="1B2932"/>
                </a:solidFill>
              </a:rPr>
              <a:t>若存在两种解释或信息不足，先列出无法确定的项目；</a:t>
            </a:r>
          </a:p>
          <a:p xmlns:a="http://schemas.openxmlformats.org/drawingml/2006/main">
            <a:pPr algn="l">
              <a:defRPr sz="2100" b="0" i="0">
                <a:solidFill>
                  <a:srgbClr val="1B2932"/>
                </a:solidFill>
              </a:defRPr>
            </a:pPr>
            <a:r>
              <a:rPr sz="2100" b="0" i="0">
                <a:solidFill>
                  <a:srgbClr val="1B2932"/>
                </a:solidFill>
              </a:rPr>
              <a:t>再给出带网格与单元边界的示意结果。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3666-EE89-476B-BA27-493F759E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输入前</a:t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先预测：AI可能怎样理解？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4B622-093C-400F-8C5D-6C7E8201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24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输入时</a:t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记录模型、规则原文和时间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A6CDB-C86B-4F92-9C1F-4F5FE08D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24375"/>
            <a:ext cx="3333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4E8CD"/>
          </a:solidFill>
          <a:ln xmlns:a="http://schemas.openxmlformats.org/drawingml/2006/main" w="11430">
            <a:solidFill>
              <a:srgbClr val="C493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输出后</a:t>
            </a:r>
          </a:p>
          <a:p xmlns:a="http://schemas.openxmlformats.org/drawingml/2006/main">
            <a:pPr algn="ctr">
              <a:defRPr sz="1500" b="1" i="0">
                <a:solidFill>
                  <a:srgbClr val="1B2932"/>
                </a:solidFill>
              </a:defRPr>
            </a:pPr>
            <a:r>
              <a:rPr sz="1500" b="1" i="0">
                <a:solidFill>
                  <a:srgbClr val="1B2932"/>
                </a:solidFill>
              </a:rPr>
              <a:t>先保存，不立刻重试或润色</a:t>
            </a:r>
          </a:p>
        </p:txBody>
      </p:sp>
    </p:spTree>
    <p:extLst>
      <p:ext uri="{BB962C8B-B14F-4D97-AF65-F5344CB8AC3E}">
        <p14:creationId xmlns:p14="http://schemas.microsoft.com/office/powerpoint/2010/main" val="178836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617BF-2946-4529-9D1E-66A1ABC5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10CD0-19EA-4EEB-B930-01E814F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诊断矩阵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07D82-32EE-4467-B3F2-5C98F8F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同伴与AI都只是执行者｜数学条件才是裁判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789D-6E5D-47DF-91C7-D3FE5E0F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314C3-7BF4-4563-8E55-EC9D8799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292A-6E18-48A1-82DE-192BBEFD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11430">
            <a:solidFill>
              <a:srgbClr val="F7F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同伴复现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BC5F8-D95B-4039-982F-20656D14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621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11430">
            <a:solidFill>
              <a:srgbClr val="F7F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AI执行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1FAA3-4A6E-45B8-B878-ABF1AB7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11430">
            <a:solidFill>
              <a:srgbClr val="F7F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先作什么诊断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813F1-7C6E-4AE1-9817-D9D6939E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F33"/>
          </a:solidFill>
          <a:ln xmlns:a="http://schemas.openxmlformats.org/drawingml/2006/main" w="11430">
            <a:solidFill>
              <a:srgbClr val="F7F4E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下一问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DB1B4-F6E5-4C3A-9EDA-9FF91CF6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88E80F-32D5-4D2E-A279-9BCB1504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4792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56CB1-B2C6-4C68-B676-E7FB8CBC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4792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54A3D"/>
                </a:solidFill>
              </a:defRPr>
            </a:pPr>
            <a:r>
              <a:rPr sz="1350" b="0" i="0">
                <a:solidFill>
                  <a:srgbClr val="B54A3D"/>
                </a:solidFill>
              </a:rPr>
              <a:t>规则可能完整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22853-F342-4064-BEBA-691E749F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4792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B2932"/>
                </a:solidFill>
              </a:defRPr>
            </a:pPr>
            <a:r>
              <a:rPr sz="1350" b="0" i="0">
                <a:solidFill>
                  <a:srgbClr val="1B2932"/>
                </a:solidFill>
              </a:rPr>
              <a:t>仍要数学验收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C68C8-3F6A-4F4D-83E8-FF6D8F45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不一致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53027-CEF8-46CB-83A0-3260B99B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不一致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70F12-0897-4015-918A-1892B723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54A3D"/>
                </a:solidFill>
              </a:defRPr>
            </a:pPr>
            <a:r>
              <a:rPr sz="1350" b="0" i="0">
                <a:solidFill>
                  <a:srgbClr val="B54A3D"/>
                </a:solidFill>
              </a:rPr>
              <a:t>规则可能有缺口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A8804-6104-4FB3-AC84-2D29B7C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B2932"/>
                </a:solidFill>
              </a:defRPr>
            </a:pPr>
            <a:r>
              <a:rPr sz="1350" b="0" i="0">
                <a:solidFill>
                  <a:srgbClr val="1B2932"/>
                </a:solidFill>
              </a:rPr>
              <a:t>缺在哪个要素？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97B52-E92E-4701-9155-A61723E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一致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3A064-ADEA-4639-9D2A-9A435EA6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957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不一致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ED0FC-FCC8-4DA0-A574-B2DDA1E0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54A3D"/>
                </a:solidFill>
              </a:defRPr>
            </a:pPr>
            <a:r>
              <a:rPr sz="1350" b="0" i="0">
                <a:solidFill>
                  <a:srgbClr val="B54A3D"/>
                </a:solidFill>
              </a:rPr>
              <a:t>AI可能执行错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8123D-349F-483D-8FB9-9E2EBF86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3F1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B2932"/>
                </a:solidFill>
              </a:defRPr>
            </a:pPr>
            <a:r>
              <a:rPr sz="1350" b="0" i="0">
                <a:solidFill>
                  <a:srgbClr val="1B2932"/>
                </a:solidFill>
              </a:rPr>
              <a:t>它违反哪条规则？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724DA-6863-46ED-9295-B55D7D36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不一致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86474-AAB6-4B9E-B22E-C8E2DFC1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一致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F06A6-8EC6-4162-88F4-44681B32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054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B54A3D"/>
                </a:solidFill>
              </a:defRPr>
            </a:pPr>
            <a:r>
              <a:rPr sz="1350" b="0" i="0">
                <a:solidFill>
                  <a:srgbClr val="B54A3D"/>
                </a:solidFill>
              </a:rPr>
              <a:t>AI可能自动补全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0EBCC-3CD3-4563-93D0-DC4BBFA2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05400"/>
            <a:ext cx="24765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B2932"/>
                </a:solidFill>
              </a:defRPr>
            </a:pPr>
            <a:r>
              <a:rPr sz="1350" b="0" i="0">
                <a:solidFill>
                  <a:srgbClr val="1B2932"/>
                </a:solidFill>
              </a:rPr>
              <a:t>陌生人为何不能复现？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E497DE-06A8-4E43-A840-83347D8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00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AI画出来 ≠ 规则正确　｜　AI没画对 ≠ 规则错误</a:t>
            </a:r>
          </a:p>
        </p:txBody>
      </p:sp>
    </p:spTree>
    <p:extLst>
      <p:ext uri="{BB962C8B-B14F-4D97-AF65-F5344CB8AC3E}">
        <p14:creationId xmlns:p14="http://schemas.microsoft.com/office/powerpoint/2010/main" val="2046226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D69BD-E987-4C26-AFBA-31E4424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FF4ED-2A47-4A83-9520-708B666A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数学验收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C90F5-CD12-4BC0-B3F0-CB64E3FE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三类证据｜从“看起来”走向“可以证明”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EB3C5-E702-4E4F-BAB9-6BA2CB4D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D85D6-62A9-4C17-825D-67537B9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E95D4-6DD7-4F3B-8F19-D5609B13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45E5A"/>
                </a:solidFill>
              </a:defRPr>
            </a:pPr>
            <a:r>
              <a:rPr sz="2550" b="1" i="0">
                <a:solidFill>
                  <a:srgbClr val="245E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0F338-4D4A-4CA4-8EBC-9A7F269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对应点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选两组以上对应点</a:t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核对方向与距离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标点 · 量格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7CC5E-5D92-4D9C-9FFA-FB937A6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71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5F86"/>
                </a:solidFill>
              </a:defRPr>
            </a:pPr>
            <a:r>
              <a:rPr sz="2550" b="1" i="0">
                <a:solidFill>
                  <a:srgbClr val="2F5F8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A5B3C-4855-4712-A8E4-1AE02C7D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71700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运动性质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平移／旋转后全等</a:t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轴对称后形状、大小保持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描图 · 重叠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D460C-8AC5-401A-AE25-9C61C6C4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71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B54A3D"/>
                </a:solidFill>
              </a:defRPr>
            </a:pPr>
            <a:r>
              <a:rPr sz="2550" b="1" i="0">
                <a:solidFill>
                  <a:srgbClr val="B54A3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F3952-E6BE-439B-8E40-0ED878C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71700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边界衔接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相邻单位无缝、无重叠</a:t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继续延展无节奏突变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 i="0">
                <a:solidFill>
                  <a:srgbClr val="1B2932"/>
                </a:solidFill>
              </a:defRPr>
            </a:pPr>
            <a:r>
              <a:rPr sz="1650" b="1" i="0">
                <a:solidFill>
                  <a:srgbClr val="1B2932"/>
                </a:solidFill>
              </a:rPr>
              <a:t>描边 · 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F2314-C59A-44C8-9516-5677802E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435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2F33"/>
                </a:solidFill>
              </a:defRPr>
            </a:pPr>
            <a:r>
              <a:rPr sz="1875" b="1" i="0">
                <a:solidFill>
                  <a:srgbClr val="102F33"/>
                </a:solidFill>
              </a:rPr>
              <a:t>验收结果要能回指：是规则缺了条件，还是AI违反了条件？</a:t>
            </a:r>
          </a:p>
        </p:txBody>
      </p:sp>
    </p:spTree>
    <p:extLst>
      <p:ext uri="{BB962C8B-B14F-4D97-AF65-F5344CB8AC3E}">
        <p14:creationId xmlns:p14="http://schemas.microsoft.com/office/powerpoint/2010/main" val="1189899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C5DEC8-B886-4401-9DF1-88992988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C8E25-EF6E-45A9-BCA7-55F4E9AC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条件辨析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F33F6-4AE6-4F55-AABA-4FBAF0C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局部运动正确，不等于整体一定能连续延展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69806-FE62-404D-9F96-7ADC8E5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6D783-87F7-4128-8D97-876B75A3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80947-D649-4A36-BEDA-C173EB8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85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5F86"/>
                </a:solidFill>
              </a:defRPr>
            </a:pPr>
            <a:r>
              <a:rPr sz="1800" b="1" i="0">
                <a:solidFill>
                  <a:srgbClr val="2F5F86"/>
                </a:solidFill>
              </a:rPr>
              <a:t>规则写：每次向右平移4格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B88AA-468E-4939-BBED-F916F64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857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54A3D"/>
                </a:solidFill>
              </a:defRPr>
            </a:pPr>
            <a:r>
              <a:rPr sz="1800" b="1" i="0">
                <a:solidFill>
                  <a:srgbClr val="B54A3D"/>
                </a:solidFill>
              </a:rPr>
              <a:t>但单位框实际宽5格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0B1A0-C377-4C02-9545-E84B1FA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EC580-E6CF-4CD8-A0C1-849AA961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333750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5571-B26E-4DD2-A95A-628AAD03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352234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6E4D3-E0ED-49E6-B216-DF92C727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229678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1F491-FE96-4042-BC30-8D3B833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837373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6293F-BA37-4021-8534-2AC5F72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" y="3249930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F3151-2743-4662-ACFC-38D689B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623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00A14-0375-4386-B612-41355F7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333750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CFE16-EEC2-4098-AD3A-A0047CD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295" y="352234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E46AF-C495-403C-9329-13E3723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2734628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9E341-774F-4B55-8DA9-43431429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3342323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7A572-689F-4B36-9857-AAF244C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205" y="3249930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C24A2-74FF-489D-BFF2-AA398FAD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623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6B468-95B1-46A7-AFA7-1C9F7279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333750"/>
            <a:ext cx="586740" cy="5867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4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DC42A-518D-4618-8E10-F8AE494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795" y="352234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0FEB03-EB79-4570-B4A8-2B3BF93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4449128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071FF2-CFC4-4AA1-B592-F90A04BD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5056823" y="3490913"/>
            <a:ext cx="398145" cy="2305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ADD41-EAAE-46D1-BBE9-350DA8A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05" y="3249930"/>
            <a:ext cx="125730" cy="1257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DE1C71-2DBA-414C-8211-39CBBB2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6230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5F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9E3E0-462E-463E-BF24-1D03EF98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33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← 重叠1格 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2DCC60-2275-4861-8DB1-6554EA3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B2932"/>
                </a:solidFill>
              </a:defRPr>
            </a:pPr>
            <a:r>
              <a:rPr sz="1950" b="1" i="0">
                <a:solidFill>
                  <a:srgbClr val="1B2932"/>
                </a:solidFill>
              </a:rPr>
              <a:t>每一次都“平移了4格”，但边界没有匹配。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D5C2D-4D41-4E42-82C0-E1D05FDC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45E5A"/>
                </a:solidFill>
              </a:defRPr>
            </a:pPr>
            <a:r>
              <a:rPr sz="1725" b="1" i="0">
                <a:solidFill>
                  <a:srgbClr val="245E5A"/>
                </a:solidFill>
              </a:rPr>
              <a:t>缺少的不是操作，而是验收条件 V。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3277F-5BC5-4ACC-B8B9-2F2CC97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局部对应成立　≠　整体衔接成立</a:t>
            </a:r>
          </a:p>
        </p:txBody>
      </p:sp>
    </p:spTree>
    <p:extLst>
      <p:ext uri="{BB962C8B-B14F-4D97-AF65-F5344CB8AC3E}">
        <p14:creationId xmlns:p14="http://schemas.microsoft.com/office/powerpoint/2010/main" val="1756982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F618E-57AF-41A2-B883-7158CAD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A26D9-7B58-4ECA-961C-7576B8F9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迭代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30ED-9708-4FD3-9229-93F460B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规则卡2.0｜让修改留下证据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C4B2-1247-437F-BE9D-32175E24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09BD-8756-4DD2-8AD9-292347DC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E1130-F980-4CEF-B3B0-0A55E730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190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54A3D"/>
                </a:solidFill>
              </a:defRPr>
            </a:pPr>
            <a:r>
              <a:rPr sz="1725" b="1" i="0">
                <a:solidFill>
                  <a:srgbClr val="B54A3D"/>
                </a:solidFill>
              </a:rPr>
              <a:t>偏差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C256E-0DE4-42B2-8E84-1BBEEA8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932"/>
                </a:solidFill>
              </a:defRPr>
            </a:pPr>
            <a:r>
              <a:rPr sz="1575" b="1" i="0">
                <a:solidFill>
                  <a:srgbClr val="1B2932"/>
                </a:solidFill>
              </a:rPr>
              <a:t>第二个单位翻转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DF27E-F131-43A6-AC20-50C8C2A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765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6727A"/>
                </a:solidFill>
              </a:defRPr>
            </a:pPr>
            <a:r>
              <a:rPr sz="2475" b="1" i="0">
                <a:solidFill>
                  <a:srgbClr val="6672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B7646-F498-4612-9111-0A9820BD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190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E8CD"/>
          </a:solidFill>
          <a:ln xmlns:a="http://schemas.openxmlformats.org/drawingml/2006/main" w="11430">
            <a:solidFill>
              <a:srgbClr val="C4933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B5A1C"/>
                </a:solidFill>
              </a:defRPr>
            </a:pPr>
            <a:r>
              <a:rPr sz="1725" b="1" i="0">
                <a:solidFill>
                  <a:srgbClr val="7B5A1C"/>
                </a:solidFill>
              </a:rPr>
              <a:t>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42AF9-B20E-4C3F-B6C8-77588D78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932"/>
                </a:solidFill>
              </a:defRPr>
            </a:pPr>
            <a:r>
              <a:rPr sz="1575" b="1" i="0">
                <a:solidFill>
                  <a:srgbClr val="1B2932"/>
                </a:solidFill>
              </a:rPr>
              <a:t>规则未排除镜像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9B2F0-24DD-4B8F-9B3F-6D72CBC9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765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6727A"/>
                </a:solidFill>
              </a:defRPr>
            </a:pPr>
            <a:r>
              <a:rPr sz="2475" b="1" i="0">
                <a:solidFill>
                  <a:srgbClr val="6672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F3A04-D0E1-4AC2-ADC1-FA215A4A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66875"/>
            <a:ext cx="2190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5F86"/>
                </a:solidFill>
              </a:defRPr>
            </a:pPr>
            <a:r>
              <a:rPr sz="1725" b="1" i="0">
                <a:solidFill>
                  <a:srgbClr val="2F5F86"/>
                </a:solidFill>
              </a:rPr>
              <a:t>修改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E845B-7FD6-4D23-9619-9324BEE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932"/>
                </a:solidFill>
              </a:defRPr>
            </a:pPr>
            <a:r>
              <a:rPr sz="1575" b="1" i="0">
                <a:solidFill>
                  <a:srgbClr val="1B2932"/>
                </a:solidFill>
              </a:rPr>
              <a:t>补充“仅作平移”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8C601-82A7-47BC-80DB-C26C6A8E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765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66727A"/>
                </a:solidFill>
              </a:defRPr>
            </a:pPr>
            <a:r>
              <a:rPr sz="2475" b="1" i="0">
                <a:solidFill>
                  <a:srgbClr val="6672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0A1FE-B71B-4E32-AC3A-447FF416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66875"/>
            <a:ext cx="2190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45E5A"/>
                </a:solidFill>
              </a:defRPr>
            </a:pPr>
            <a:r>
              <a:rPr sz="1725" b="1" i="0">
                <a:solidFill>
                  <a:srgbClr val="245E5A"/>
                </a:solidFill>
              </a:rPr>
              <a:t>复检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54A88-516E-4D59-8BC9-278B1508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B2932"/>
                </a:solidFill>
              </a:defRPr>
            </a:pPr>
            <a:r>
              <a:rPr sz="1575" b="1" i="0">
                <a:solidFill>
                  <a:srgbClr val="1B2932"/>
                </a:solidFill>
              </a:rPr>
              <a:t>标两组对应点并查边界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8EC1D-C9E3-4FE8-B4CB-575DB17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02F33"/>
                </a:solidFill>
              </a:defRPr>
            </a:pPr>
            <a:r>
              <a:rPr sz="2175" b="1" i="0">
                <a:solidFill>
                  <a:srgbClr val="102F33"/>
                </a:solidFill>
              </a:rPr>
              <a:t>你的2.0必须回答：新规则怎样排除了原来的另一种解释？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F2A54-64D7-46E1-B046-DBA81D1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864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不是“再试一次”，而是“据证据改规则”。</a:t>
            </a:r>
          </a:p>
        </p:txBody>
      </p:sp>
    </p:spTree>
    <p:extLst>
      <p:ext uri="{BB962C8B-B14F-4D97-AF65-F5344CB8AC3E}">
        <p14:creationId xmlns:p14="http://schemas.microsoft.com/office/powerpoint/2010/main" val="1912971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BC949-FB93-4185-92D2-EB339888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453F2-62FD-45FB-944E-F7957EC1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教材内迁移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B36CC-D6D1-436F-98B7-5E2B74B1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回到教材新一行｜哪些条件保留，哪些必须改变？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E9716-589E-4623-A6B0-BADBB7FA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50FB-A5A2-4B0D-8112-8D18FAD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FF945-FBF3-4B5B-BD92-EAC76C35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860BB-CB9B-41D4-A3D6-6740DA72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F688C-ED4B-478F-8935-F01A45DF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52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0D206-985D-445D-8A4C-AFF300A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52447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07B54-C284-46B3-98FF-028CFA95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210454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474AD-00DE-43E0-AE0E-F6327D75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28" y="2253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F1E00-1826-4C37-AB94-1A70BC79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4325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A78BC-6ADB-4ECF-8A7E-01596F8D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27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D879B-7924-4CB6-83C3-3CB07643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295322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52186-8A41-44A2-9725-05966794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353329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6403A-166D-4664-B108-AA50EAD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278" y="281368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0ECA4-D5F6-4DCC-AAD1-79A3899E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E66D0-B2A3-4F96-BFA1-6D95CFAA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2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27B51-C71D-4134-9AA4-7B152801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438197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DEB34-B1F7-4901-840D-57EFFB67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496204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F0955-EA94-4A70-B679-0F4A859B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028" y="2253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C11C1-0041-466B-82E9-8433DBA7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0075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EE8DB-FA34-4B06-93B7-5BA32FF9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77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2855F-DBBA-4438-BCDE-0786BFF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581072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9242A-DDF2-4A73-8C82-B3B26C1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39079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819F79-CBC1-4528-B4FF-9BB4EE4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778" y="281368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2EB01-C08B-4591-ADD1-540CCF3C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DCDA70-0057-4442-9A0F-4FD90D2D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952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2B1B43-B2CD-48DC-836A-7DF9668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23947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2D33B-F9AB-42E5-96F4-B4EBB7E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81954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FB6451-F2E0-4E7D-99AF-095CECCF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528" y="225361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8C255-70D1-418D-A91B-74E6BB55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858250" y="2333625"/>
            <a:ext cx="560070" cy="56007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49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4B60E-0D65-4C33-9E7F-4AAB41F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273" y="2513648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DA8FAE-FD59-4899-9D08-EF6D9E0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8668226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6FD94-5B9A-4CE7-BE0E-1BE7666F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248299" y="2483644"/>
            <a:ext cx="380048" cy="220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1D4B43-6FC4-491B-9C75-CBF771B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278" y="2813685"/>
            <a:ext cx="12001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A515FB-E877-4CEF-8178-BF30FF57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4337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02F33"/>
                </a:solidFill>
              </a:defRPr>
            </a:pPr>
            <a:r>
              <a:rPr sz="1950" b="1" i="0">
                <a:solidFill>
                  <a:srgbClr val="102F33"/>
                </a:solidFill>
              </a:rPr>
              <a:t>先关于竖直边界作轴对称，再向右平移一个单位宽度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E08B32-1BB1-4FE6-A411-33D49FC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45E5A"/>
                </a:solidFill>
              </a:defRPr>
            </a:pPr>
            <a:r>
              <a:rPr sz="1950" b="1" i="0">
                <a:solidFill>
                  <a:srgbClr val="245E5A"/>
                </a:solidFill>
              </a:rPr>
              <a:t>保留？</a:t>
            </a:r>
          </a:p>
          <a:p xmlns:a="http://schemas.openxmlformats.org/drawingml/2006/main">
            <a:pPr algn="ctr">
              <a:defRPr sz="1950" b="1" i="0">
                <a:solidFill>
                  <a:srgbClr val="245E5A"/>
                </a:solidFill>
              </a:defRPr>
            </a:pPr>
            <a:r>
              <a:rPr sz="1950" b="1" i="0">
                <a:solidFill>
                  <a:srgbClr val="245E5A"/>
                </a:solidFill>
              </a:rPr>
              <a:t>G　D　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1BC957-A934-4A7B-A446-E1B58A8E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00625"/>
            <a:ext cx="3429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B54A3D"/>
                </a:solidFill>
              </a:defRPr>
            </a:pPr>
            <a:r>
              <a:rPr sz="1950" b="1" i="0">
                <a:solidFill>
                  <a:srgbClr val="B54A3D"/>
                </a:solidFill>
              </a:rPr>
              <a:t>改变？</a:t>
            </a:r>
          </a:p>
          <a:p xmlns:a="http://schemas.openxmlformats.org/drawingml/2006/main">
            <a:pPr algn="ctr">
              <a:defRPr sz="1950" b="1" i="0">
                <a:solidFill>
                  <a:srgbClr val="B54A3D"/>
                </a:solidFill>
              </a:defRPr>
            </a:pPr>
            <a:r>
              <a:rPr sz="1950" b="1" i="0">
                <a:solidFill>
                  <a:srgbClr val="B54A3D"/>
                </a:solidFill>
              </a:rPr>
              <a:t>T　λ　以及运动顺序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C9FF6A-7B60-4077-BD6F-D2AB088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578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66727A"/>
                </a:solidFill>
              </a:defRPr>
            </a:pPr>
            <a:r>
              <a:rPr sz="1350" b="1" i="0">
                <a:solidFill>
                  <a:srgbClr val="66727A"/>
                </a:solidFill>
              </a:rPr>
              <a:t>个人完成，2分钟</a:t>
            </a:r>
          </a:p>
        </p:txBody>
      </p:sp>
    </p:spTree>
    <p:extLst>
      <p:ext uri="{BB962C8B-B14F-4D97-AF65-F5344CB8AC3E}">
        <p14:creationId xmlns:p14="http://schemas.microsoft.com/office/powerpoint/2010/main" val="1505861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A288CB-6477-4E56-89CA-5414279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E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10EAC-3F6E-40FE-9407-C695C3A7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54A3D"/>
                </a:solidFill>
              </a:defRPr>
            </a:pPr>
            <a:r>
              <a:rPr sz="900" b="1" i="0">
                <a:solidFill>
                  <a:srgbClr val="B54A3D"/>
                </a:solidFill>
              </a:rPr>
              <a:t>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9B2C3-D0D0-4AB6-BDC4-A1E2E61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33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2F33"/>
                </a:solidFill>
              </a:defRPr>
            </a:pPr>
            <a:r>
              <a:rPr sz="2550" b="1" i="0">
                <a:solidFill>
                  <a:srgbClr val="102F33"/>
                </a:solidFill>
              </a:rPr>
              <a:t>出门条｜今天留下三条个人证据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B583F-1A4F-49C4-899D-E916828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0DC90-AFDC-491C-A2F1-0F169B8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3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6727A"/>
                </a:solidFill>
              </a:defRPr>
            </a:pPr>
            <a:r>
              <a:rPr sz="975" b="1" i="0">
                <a:solidFill>
                  <a:srgbClr val="66727A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9E329-9090-4435-B60E-FDCD9B8F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45E5A"/>
                </a:solidFill>
              </a:defRPr>
            </a:pPr>
            <a:r>
              <a:rPr sz="3300" b="1" i="0">
                <a:solidFill>
                  <a:srgbClr val="245E5A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D53B0-F752-4580-989F-EEA1346C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ECE8"/>
          </a:solidFill>
          <a:ln xmlns:a="http://schemas.openxmlformats.org/drawingml/2006/main" w="11430">
            <a:solidFill>
              <a:srgbClr val="245E5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写出一条可执行规则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至少包含 G、T、λ、D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5D7B1-DD1C-453E-BBD0-A2D2560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F5F86"/>
                </a:solidFill>
              </a:defRPr>
            </a:pPr>
            <a:r>
              <a:rPr sz="3300" b="1" i="0">
                <a:solidFill>
                  <a:srgbClr val="2F5F8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1B896-80E9-4A92-A691-6EB7B055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E8F1"/>
          </a:solidFill>
          <a:ln xmlns:a="http://schemas.openxmlformats.org/drawingml/2006/main" w="11430">
            <a:solidFill>
              <a:srgbClr val="2F5F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写出一条验收条件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说明准备用什么证据检查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0EF16-35D5-42C8-856A-B0843493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B54A3D"/>
                </a:solidFill>
              </a:defRPr>
            </a:pPr>
            <a:r>
              <a:rPr sz="3300" b="1" i="0">
                <a:solidFill>
                  <a:srgbClr val="B54A3D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0C3AE-2463-4BD7-BF46-84B7FDEB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288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5E2DD"/>
          </a:solidFill>
          <a:ln xmlns:a="http://schemas.openxmlformats.org/drawingml/2006/main" w="11430">
            <a:solidFill>
              <a:srgbClr val="B54A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若同伴与AI不同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B2932"/>
                </a:solidFill>
              </a:defRPr>
            </a:pPr>
            <a:r>
              <a:rPr sz="1725" b="1" i="0">
                <a:solidFill>
                  <a:srgbClr val="1B2932"/>
                </a:solidFill>
              </a:rPr>
              <a:t>你首先检查什么？为什么？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05E18-37A4-4CBF-B063-23D9DE9C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E5A"/>
                </a:solidFill>
              </a:defRPr>
            </a:pPr>
            <a:r>
              <a:rPr sz="1650" b="1" i="0">
                <a:solidFill>
                  <a:srgbClr val="245E5A"/>
                </a:solidFill>
              </a:rPr>
              <a:t>观察现实纹样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E9155-21B1-4EE3-807D-8A1ACE21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91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933F"/>
                </a:solidFill>
              </a:defRPr>
            </a:pPr>
            <a:r>
              <a:rPr sz="2100" b="1" i="0">
                <a:solidFill>
                  <a:srgbClr val="C4933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6ED-89EF-4D36-B26A-B0D11652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F5F86"/>
                </a:solidFill>
              </a:defRPr>
            </a:pPr>
            <a:r>
              <a:rPr sz="1650" b="1" i="0">
                <a:solidFill>
                  <a:srgbClr val="2F5F86"/>
                </a:solidFill>
              </a:rPr>
              <a:t>表达生成规则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05A33-9C21-4DD5-9CC7-7453253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933F"/>
                </a:solidFill>
              </a:defRPr>
            </a:pPr>
            <a:r>
              <a:rPr sz="2100" b="1" i="0">
                <a:solidFill>
                  <a:srgbClr val="C4933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CE39F-7900-41E7-A5CD-D7777B9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911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54A3D"/>
                </a:solidFill>
              </a:defRPr>
            </a:pPr>
            <a:r>
              <a:rPr sz="1650" b="1" i="0">
                <a:solidFill>
                  <a:srgbClr val="B54A3D"/>
                </a:solidFill>
              </a:rPr>
              <a:t>检验并修正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83E90-1301-402F-AEC9-6B7AD6F1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911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4933F"/>
                </a:solidFill>
              </a:defRPr>
            </a:pPr>
            <a:r>
              <a:rPr sz="2100" b="1" i="0">
                <a:solidFill>
                  <a:srgbClr val="C4933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C1EEF-6B79-46CA-8F99-99F494B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1911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E5A"/>
                </a:solidFill>
              </a:defRPr>
            </a:pPr>
            <a:r>
              <a:rPr sz="1650" b="1" i="0">
                <a:solidFill>
                  <a:srgbClr val="245E5A"/>
                </a:solidFill>
              </a:rPr>
              <a:t>迁移到新图样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F4F67-55C6-458E-A3AD-DC4E4664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02F33"/>
                </a:solidFill>
              </a:defRPr>
            </a:pPr>
            <a:r>
              <a:rPr sz="1800" b="1" i="0">
                <a:solidFill>
                  <a:srgbClr val="102F33"/>
                </a:solidFill>
              </a:rPr>
              <a:t>AI负责执行；数学证据负责判断。</a:t>
            </a:r>
          </a:p>
        </p:txBody>
      </p:sp>
    </p:spTree>
    <p:extLst>
      <p:ext uri="{BB962C8B-B14F-4D97-AF65-F5344CB8AC3E}">
        <p14:creationId xmlns:p14="http://schemas.microsoft.com/office/powerpoint/2010/main" val="628684085"/>
      </p:ext>
    </p:extLst>
  </p:cSld>
</p:sld>
</file>

<file path=ppt/theme/theme1.xml><?xml version="1.0" encoding="utf-8"?>
<a:theme xmlns:a="http://schemas.openxmlformats.org/drawingml/2006/main" name="ChatGPT">
  <a:themeElements>
    <a:clrScheme name="Continuous Pattern Classroom">
      <a:dk1>
        <a:srgbClr val="000000"/>
      </a:dk1>
      <a:lt1>
        <a:srgbClr val="FFFFFF"/>
      </a:lt1>
      <a:dk2>
        <a:srgbClr val="102F33"/>
      </a:dk2>
      <a:lt2>
        <a:srgbClr val="EEE9DF"/>
      </a:lt2>
      <a:accent1>
        <a:srgbClr val="245E5A"/>
      </a:accent1>
      <a:accent2>
        <a:srgbClr val="B54A3D"/>
      </a:accent2>
      <a:accent3>
        <a:srgbClr val="C4933F"/>
      </a:accent3>
      <a:accent4>
        <a:srgbClr val="2F5F86"/>
      </a:accent4>
      <a:accent5>
        <a:srgbClr val="7A5B8A"/>
      </a:accent5>
      <a:accent6>
        <a:srgbClr val="5D7F4F"/>
      </a:accent6>
      <a:hlink>
        <a:srgbClr val="2F5F86"/>
      </a:hlink>
      <a:folHlink>
        <a:srgbClr val="7A5B8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ntinuous Pattern Classroom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2026-09-03T00:48:03.6800000Z</dcterms:created>
  <dcterms:modified xsi:type="dcterms:W3CDTF">2026-09-03T00:48:03.6800000Z</dcterms:modified>
</coreProperties>
</file>